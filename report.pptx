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17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562" autoAdjust="0"/>
  </p:normalViewPr>
  <p:slideViewPr>
    <p:cSldViewPr snapToGrid="0">
      <p:cViewPr varScale="1">
        <p:scale>
          <a:sx n="92" d="100"/>
          <a:sy n="92" d="100"/>
        </p:scale>
        <p:origin x="12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7ADF0-600E-46A1-9E72-0D8B2412CEE4}" type="datetimeFigureOut">
              <a:rPr lang="zh-TW" altLang="en-US" smtClean="0"/>
              <a:t>2020/6/4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0A935-A6DE-4EC5-ACED-9C2487A34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8809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0A935-A6DE-4EC5-ACED-9C2487A3416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416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0A935-A6DE-4EC5-ACED-9C2487A3416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2519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0A935-A6DE-4EC5-ACED-9C2487A3416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067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0A935-A6DE-4EC5-ACED-9C2487A3416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3153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# of client are high -&gt; smaller subset</a:t>
            </a:r>
          </a:p>
          <a:p>
            <a:r>
              <a:rPr lang="en-US" altLang="zh-TW" dirty="0"/>
              <a:t># of client are low -&gt; larger subset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0A935-A6DE-4EC5-ACED-9C2487A3416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461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0A935-A6DE-4EC5-ACED-9C2487A3416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7490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Other paper prove it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0A935-A6DE-4EC5-ACED-9C2487A3416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1705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25% mean ¼ of rank in low rank</a:t>
            </a:r>
          </a:p>
          <a:p>
            <a:r>
              <a:rPr lang="en-US" altLang="zh-TW" dirty="0"/>
              <a:t>25% mean only 25% of data remain</a:t>
            </a:r>
          </a:p>
          <a:p>
            <a:r>
              <a:rPr lang="en-US" altLang="zh-TW" dirty="0"/>
              <a:t>Compare random mask and low rank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0A935-A6DE-4EC5-ACED-9C2487A3416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1785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Compare sketch and structure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0A935-A6DE-4EC5-ACED-9C2487A3416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7672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Compare with and without rotation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0A935-A6DE-4EC5-ACED-9C2487A34164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601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0A935-A6DE-4EC5-ACED-9C2487A34164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028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571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307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452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445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0682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32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83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274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050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768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5105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9031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455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511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1647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867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159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940E488-08F0-4168-82ED-5E08A201F9D6}" type="datetimeFigureOut">
              <a:rPr lang="zh-TW" altLang="en-US" smtClean="0"/>
              <a:t>2020/6/3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C988146-CBE0-4F27-9115-511520647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1248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E8716F-018D-4041-AD93-8236974A1B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FEDERATED learning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8A1953A-92CE-4097-BA82-ED12F6DA44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Strategies for Improving Communication Efficiency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8120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dirty="0"/>
              <a:t>Contents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9968D2-EEB2-418D-92C8-53FFF3C9A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03" y="2496844"/>
            <a:ext cx="8534400" cy="3615267"/>
          </a:xfrm>
        </p:spPr>
        <p:txBody>
          <a:bodyPr anchor="t"/>
          <a:lstStyle/>
          <a:p>
            <a:r>
              <a:rPr lang="en-US" altLang="zh-TW" dirty="0"/>
              <a:t>Introduction of upload models in Federated Learning</a:t>
            </a:r>
          </a:p>
          <a:p>
            <a:r>
              <a:rPr lang="en-US" altLang="zh-TW" dirty="0"/>
              <a:t>Goal of this paper</a:t>
            </a:r>
          </a:p>
          <a:p>
            <a:r>
              <a:rPr lang="en-US" altLang="zh-TW" dirty="0"/>
              <a:t>Proposed method</a:t>
            </a:r>
          </a:p>
          <a:p>
            <a:pPr lvl="1"/>
            <a:r>
              <a:rPr lang="en-US" altLang="zh-TW" dirty="0"/>
              <a:t>Structured updates</a:t>
            </a:r>
          </a:p>
          <a:p>
            <a:pPr lvl="1"/>
            <a:r>
              <a:rPr lang="en-US" altLang="zh-TW" dirty="0"/>
              <a:t>Sketched updates</a:t>
            </a:r>
          </a:p>
          <a:p>
            <a:r>
              <a:rPr lang="en-US" altLang="zh-TW" dirty="0"/>
              <a:t>Experiment results</a:t>
            </a:r>
          </a:p>
          <a:p>
            <a:r>
              <a:rPr lang="en-US" altLang="zh-TW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26405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dirty="0"/>
              <a:t>Introduction of Uploading model 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39968D2-EEB2-418D-92C8-53FFF3C9A9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829" y="1373168"/>
                <a:ext cx="11283997" cy="5204277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≔</m:t>
                      </m:r>
                      <m:sSubSup>
                        <m:sSub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r>
                  <a:rPr lang="en-US" altLang="zh-TW" dirty="0"/>
                  <a:t>Matrix </a:t>
                </a:r>
                <a:r>
                  <a:rPr lang="en-US" altLang="zh-TW" b="1" dirty="0"/>
                  <a:t>W</a:t>
                </a:r>
                <a:r>
                  <a:rPr lang="en-US" altLang="zh-TW" dirty="0"/>
                  <a:t> is parameter matrix of model</a:t>
                </a:r>
              </a:p>
              <a:p>
                <a:r>
                  <a:rPr lang="en-US" altLang="zh-TW" dirty="0"/>
                  <a:t>Superscript </a:t>
                </a:r>
                <a:r>
                  <a:rPr lang="en-US" altLang="zh-TW" b="1" dirty="0"/>
                  <a:t>i </a:t>
                </a:r>
                <a:r>
                  <a:rPr lang="en-US" altLang="zh-TW" dirty="0"/>
                  <a:t>represents parameter of client </a:t>
                </a:r>
                <a:r>
                  <a:rPr lang="en-US" altLang="zh-TW" b="1" dirty="0"/>
                  <a:t>i</a:t>
                </a:r>
              </a:p>
              <a:p>
                <a:r>
                  <a:rPr lang="en-US" altLang="zh-TW" dirty="0"/>
                  <a:t>Subscript </a:t>
                </a:r>
                <a:r>
                  <a:rPr lang="en-US" altLang="zh-TW" b="1" dirty="0"/>
                  <a:t>i</a:t>
                </a:r>
                <a:r>
                  <a:rPr lang="en-US" altLang="zh-TW" dirty="0"/>
                  <a:t> represents round </a:t>
                </a:r>
                <a:r>
                  <a:rPr lang="en-US" altLang="zh-TW" b="1" dirty="0"/>
                  <a:t>t</a:t>
                </a:r>
              </a:p>
              <a:p>
                <a:r>
                  <a:rPr lang="en-US" altLang="zh-TW" dirty="0"/>
                  <a:t>Each client will send matrix </a:t>
                </a:r>
                <a:r>
                  <a:rPr lang="en-US" altLang="zh-TW" b="1" dirty="0"/>
                  <a:t>H</a:t>
                </a:r>
                <a:r>
                  <a:rPr lang="en-US" altLang="zh-TW" dirty="0"/>
                  <a:t> to the server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r>
                  <a:rPr lang="en-US" altLang="zh-TW" dirty="0"/>
                  <a:t>Server then average all of client </a:t>
                </a:r>
                <a:r>
                  <a:rPr lang="en-US" altLang="zh-TW" b="1" dirty="0"/>
                  <a:t>H</a:t>
                </a:r>
                <a:r>
                  <a:rPr lang="en-US" altLang="zh-TW" dirty="0"/>
                  <a:t> matrix to update server model</a:t>
                </a:r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39968D2-EEB2-418D-92C8-53FFF3C9A9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829" y="1373168"/>
                <a:ext cx="11283997" cy="5204277"/>
              </a:xfrm>
              <a:blipFill>
                <a:blip r:embed="rId2"/>
                <a:stretch>
                  <a:fillRect l="-2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907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dirty="0"/>
              <a:t>Goal of this paper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9968D2-EEB2-418D-92C8-53FFF3C9A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03" y="2496844"/>
            <a:ext cx="8534400" cy="3615267"/>
          </a:xfrm>
        </p:spPr>
        <p:txBody>
          <a:bodyPr anchor="t"/>
          <a:lstStyle/>
          <a:p>
            <a:r>
              <a:rPr lang="en-US" altLang="zh-TW" dirty="0"/>
              <a:t>Naïve implementation of </a:t>
            </a:r>
            <a:r>
              <a:rPr lang="en-US" altLang="zh-TW" b="1" dirty="0"/>
              <a:t>Federated Learning </a:t>
            </a:r>
            <a:r>
              <a:rPr lang="en-US" altLang="zh-TW" dirty="0"/>
              <a:t>require each client to send whole model to server, thus the time of uploading models in </a:t>
            </a:r>
            <a:r>
              <a:rPr lang="en-US" altLang="zh-TW" b="1" dirty="0"/>
              <a:t>Federated Learning </a:t>
            </a:r>
            <a:r>
              <a:rPr lang="en-US" altLang="zh-TW" dirty="0"/>
              <a:t>become a bottleneck.</a:t>
            </a:r>
          </a:p>
          <a:p>
            <a:r>
              <a:rPr lang="en-US" altLang="zh-TW" dirty="0"/>
              <a:t>In this paper, authors propose some method that can reduce the time of uploading models to the server.</a:t>
            </a:r>
          </a:p>
        </p:txBody>
      </p:sp>
    </p:spTree>
    <p:extLst>
      <p:ext uri="{BB962C8B-B14F-4D97-AF65-F5344CB8AC3E}">
        <p14:creationId xmlns:p14="http://schemas.microsoft.com/office/powerpoint/2010/main" val="391461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dirty="0"/>
              <a:t>Structured updates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9968D2-EEB2-418D-92C8-53FFF3C9A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03" y="2496844"/>
            <a:ext cx="8534400" cy="3615267"/>
          </a:xfrm>
        </p:spPr>
        <p:txBody>
          <a:bodyPr anchor="t"/>
          <a:lstStyle/>
          <a:p>
            <a:r>
              <a:rPr lang="en-US" altLang="zh-TW" dirty="0"/>
              <a:t>This method restrict the update matrix </a:t>
            </a:r>
            <a:r>
              <a:rPr lang="en-US" altLang="zh-TW" b="1" dirty="0"/>
              <a:t>H</a:t>
            </a:r>
            <a:r>
              <a:rPr lang="en-US" altLang="zh-TW" dirty="0"/>
              <a:t> to have a pre-specified structure, and authors introduce two structures in this paper.</a:t>
            </a:r>
          </a:p>
          <a:p>
            <a:r>
              <a:rPr lang="en-US" altLang="zh-TW" b="1" dirty="0"/>
              <a:t>Low rank</a:t>
            </a:r>
          </a:p>
          <a:p>
            <a:r>
              <a:rPr lang="en-US" altLang="zh-TW" b="1" dirty="0"/>
              <a:t>Random mask </a:t>
            </a:r>
          </a:p>
        </p:txBody>
      </p:sp>
    </p:spTree>
    <p:extLst>
      <p:ext uri="{BB962C8B-B14F-4D97-AF65-F5344CB8AC3E}">
        <p14:creationId xmlns:p14="http://schemas.microsoft.com/office/powerpoint/2010/main" val="3407167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dirty="0"/>
              <a:t>Low rank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39968D2-EEB2-418D-92C8-53FFF3C9A9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384" y="1779872"/>
                <a:ext cx="10618979" cy="4506628"/>
              </a:xfrm>
            </p:spPr>
            <p:txBody>
              <a:bodyPr anchor="t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sSubSup>
                        <m:sSub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sSubSup>
                        <m:sSubSup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TW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TW" dirty="0"/>
              </a:p>
              <a:p>
                <a:r>
                  <a:rPr lang="en-US" altLang="zh-TW" b="1" dirty="0"/>
                  <a:t>d1</a:t>
                </a:r>
                <a:r>
                  <a:rPr lang="en-US" altLang="zh-TW" dirty="0"/>
                  <a:t> is # of outputs and </a:t>
                </a:r>
                <a:r>
                  <a:rPr lang="en-US" altLang="zh-TW" b="1" dirty="0"/>
                  <a:t>d2</a:t>
                </a:r>
                <a:r>
                  <a:rPr lang="en-US" altLang="zh-TW" dirty="0"/>
                  <a:t> is # of inputs in network</a:t>
                </a:r>
              </a:p>
              <a:p>
                <a:r>
                  <a:rPr lang="en-US" altLang="zh-TW" b="1" dirty="0"/>
                  <a:t>k</a:t>
                </a:r>
                <a:r>
                  <a:rPr lang="en-US" altLang="zh-TW" dirty="0"/>
                  <a:t> is a fixed number</a:t>
                </a:r>
              </a:p>
              <a:p>
                <a:r>
                  <a:rPr lang="en-US" altLang="zh-TW" dirty="0"/>
                  <a:t>In this method, each client will generate matrix </a:t>
                </a:r>
                <a:r>
                  <a:rPr lang="en-US" altLang="zh-TW" b="1" dirty="0"/>
                  <a:t>A</a:t>
                </a:r>
                <a:r>
                  <a:rPr lang="en-US" altLang="zh-TW" dirty="0"/>
                  <a:t> by random seed independently and send only matrix </a:t>
                </a:r>
                <a:r>
                  <a:rPr lang="en-US" altLang="zh-TW" b="1" dirty="0"/>
                  <a:t>B</a:t>
                </a:r>
                <a:r>
                  <a:rPr lang="en-US" altLang="zh-TW" dirty="0"/>
                  <a:t> as well as </a:t>
                </a:r>
                <a:r>
                  <a:rPr lang="en-US" altLang="zh-TW" b="1" dirty="0"/>
                  <a:t>random  seed </a:t>
                </a:r>
                <a:r>
                  <a:rPr lang="en-US" altLang="zh-TW" dirty="0"/>
                  <a:t>to the server.</a:t>
                </a:r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39968D2-EEB2-418D-92C8-53FFF3C9A9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384" y="1779872"/>
                <a:ext cx="10618979" cy="4506628"/>
              </a:xfrm>
              <a:blipFill>
                <a:blip r:embed="rId3"/>
                <a:stretch>
                  <a:fillRect l="-2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36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dirty="0"/>
              <a:t>Random mask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9968D2-EEB2-418D-92C8-53FFF3C9A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384" y="1779872"/>
            <a:ext cx="10618979" cy="4506628"/>
          </a:xfrm>
        </p:spPr>
        <p:txBody>
          <a:bodyPr anchor="t"/>
          <a:lstStyle/>
          <a:p>
            <a:r>
              <a:rPr lang="en-US" altLang="zh-TW" dirty="0"/>
              <a:t>Restrict matrix </a:t>
            </a:r>
            <a:r>
              <a:rPr lang="en-US" altLang="zh-TW" b="1" dirty="0"/>
              <a:t>H</a:t>
            </a:r>
            <a:r>
              <a:rPr lang="en-US" altLang="zh-TW" dirty="0"/>
              <a:t> to be a sparse matrix</a:t>
            </a:r>
          </a:p>
          <a:p>
            <a:r>
              <a:rPr lang="en-US" altLang="zh-TW" dirty="0"/>
              <a:t>Use random seed to generate random mask</a:t>
            </a:r>
          </a:p>
          <a:p>
            <a:r>
              <a:rPr lang="en-US" altLang="zh-TW" dirty="0"/>
              <a:t>Each client will only send </a:t>
            </a:r>
            <a:r>
              <a:rPr lang="en-US" altLang="zh-TW" b="1" dirty="0"/>
              <a:t>non-zero entries </a:t>
            </a:r>
            <a:r>
              <a:rPr lang="en-US" altLang="zh-TW" dirty="0"/>
              <a:t>as well as </a:t>
            </a:r>
            <a:r>
              <a:rPr lang="en-US" altLang="zh-TW" b="1" dirty="0"/>
              <a:t>random  seed </a:t>
            </a:r>
            <a:r>
              <a:rPr lang="en-US" altLang="zh-TW" dirty="0"/>
              <a:t>to the server.</a:t>
            </a: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70251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dirty="0"/>
              <a:t>Sketched updates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9968D2-EEB2-418D-92C8-53FFF3C9A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03" y="2496844"/>
            <a:ext cx="8534400" cy="3615267"/>
          </a:xfrm>
        </p:spPr>
        <p:txBody>
          <a:bodyPr anchor="t"/>
          <a:lstStyle/>
          <a:p>
            <a:r>
              <a:rPr lang="en-US" altLang="zh-TW" dirty="0"/>
              <a:t>This method will upload model with some lossy form.</a:t>
            </a:r>
          </a:p>
          <a:p>
            <a:r>
              <a:rPr lang="en-US" altLang="zh-TW" b="1" dirty="0"/>
              <a:t>Subsampling</a:t>
            </a:r>
          </a:p>
          <a:p>
            <a:r>
              <a:rPr lang="en-US" altLang="zh-TW" b="1" dirty="0"/>
              <a:t>Probabilistic quantization</a:t>
            </a:r>
          </a:p>
        </p:txBody>
      </p:sp>
    </p:spTree>
    <p:extLst>
      <p:ext uri="{BB962C8B-B14F-4D97-AF65-F5344CB8AC3E}">
        <p14:creationId xmlns:p14="http://schemas.microsoft.com/office/powerpoint/2010/main" val="75218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dirty="0"/>
              <a:t>subsampling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9968D2-EEB2-418D-92C8-53FFF3C9A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03" y="2496844"/>
            <a:ext cx="8534400" cy="3615267"/>
          </a:xfrm>
        </p:spPr>
        <p:txBody>
          <a:bodyPr anchor="t"/>
          <a:lstStyle/>
          <a:p>
            <a:r>
              <a:rPr lang="en-US" altLang="zh-TW" dirty="0"/>
              <a:t>Instead of send whole matrix </a:t>
            </a:r>
            <a:r>
              <a:rPr lang="en-US" altLang="zh-TW" b="1" dirty="0"/>
              <a:t>H</a:t>
            </a:r>
            <a:r>
              <a:rPr lang="en-US" altLang="zh-TW" dirty="0"/>
              <a:t> to the server, this method only send random subset of matrix </a:t>
            </a:r>
            <a:r>
              <a:rPr lang="en-US" altLang="zh-TW" b="1" dirty="0"/>
              <a:t>H</a:t>
            </a:r>
            <a:r>
              <a:rPr lang="en-US" altLang="zh-TW" dirty="0"/>
              <a:t> to the server.</a:t>
            </a: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54715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b="1" dirty="0"/>
              <a:t>Probabilistic quantization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39968D2-EEB2-418D-92C8-53FFF3C9A9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902" y="1769480"/>
                <a:ext cx="9611062" cy="4640527"/>
              </a:xfrm>
            </p:spPr>
            <p:txBody>
              <a:bodyPr anchor="t">
                <a:normAutofit/>
              </a:bodyPr>
              <a:lstStyle/>
              <a:p>
                <a:r>
                  <a:rPr lang="en-US" altLang="zh-TW" dirty="0"/>
                  <a:t>They vectorize original matrix </a:t>
                </a:r>
                <a:r>
                  <a:rPr lang="en-US" altLang="zh-TW" b="1" dirty="0"/>
                  <a:t>H</a:t>
                </a:r>
                <a:r>
                  <a:rPr lang="en-US" altLang="zh-TW" dirty="0"/>
                  <a:t> to the vector </a:t>
                </a:r>
                <a:r>
                  <a:rPr lang="en-US" altLang="zh-TW" b="1" dirty="0"/>
                  <a:t>h</a:t>
                </a:r>
                <a:r>
                  <a:rPr lang="en-US" altLang="zh-TW" dirty="0"/>
                  <a:t> first, then take the maximum and minimum.</a:t>
                </a:r>
              </a:p>
              <a:p>
                <a:r>
                  <a:rPr lang="en-US" altLang="zh-TW" dirty="0"/>
                  <a:t>And below is </a:t>
                </a:r>
                <a:r>
                  <a:rPr lang="en-US" altLang="zh-TW" b="1" dirty="0"/>
                  <a:t>1-bit quantization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𝑤𝑖𝑡h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𝑝𝑟𝑜𝑏𝑎𝑏𝑖𝑙𝑖𝑡𝑦</m:t>
                              </m:r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𝑚𝑖𝑛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𝑚𝑖𝑛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𝑤𝑖𝑡h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𝑝𝑟𝑜𝑏𝑎𝑏𝑖𝑙𝑖𝑡𝑦</m:t>
                              </m:r>
                              <m:f>
                                <m:f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𝑚𝑖𝑛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r>
                  <a:rPr lang="en-US" altLang="zh-TW" dirty="0"/>
                  <a:t>For </a:t>
                </a:r>
                <a:r>
                  <a:rPr lang="en-US" altLang="zh-TW" b="1" dirty="0"/>
                  <a:t>b-bit quantization</a:t>
                </a:r>
                <a:r>
                  <a:rPr lang="en-US" altLang="zh-TW" dirty="0"/>
                  <a:t>, we should divide interval of maximum and minimum to b intervals, if one value falls in a interval, then replace maximum with upper value of this interval and minimum with lower value of this interval in above equation.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39968D2-EEB2-418D-92C8-53FFF3C9A9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902" y="1769480"/>
                <a:ext cx="9611062" cy="4640527"/>
              </a:xfrm>
              <a:blipFill>
                <a:blip r:embed="rId3"/>
                <a:stretch>
                  <a:fillRect l="-254" t="-6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331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b="1" dirty="0"/>
              <a:t>Probabilistic quantization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9968D2-EEB2-418D-92C8-53FFF3C9A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03" y="2496844"/>
            <a:ext cx="8534400" cy="3615267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This method will cause some error if we don’t preprocess the matrix.</a:t>
            </a:r>
          </a:p>
          <a:p>
            <a:r>
              <a:rPr lang="en-US" altLang="zh-TW" dirty="0"/>
              <a:t>For example, if maximum = 1 and minimum = -1and most of value are 0, </a:t>
            </a:r>
            <a:r>
              <a:rPr lang="en-US" altLang="zh-TW" b="1" dirty="0"/>
              <a:t>1-bit quantization </a:t>
            </a:r>
            <a:r>
              <a:rPr lang="en-US" altLang="zh-TW" dirty="0"/>
              <a:t>will produce large error.</a:t>
            </a:r>
          </a:p>
          <a:p>
            <a:r>
              <a:rPr lang="en-US" altLang="zh-TW" dirty="0"/>
              <a:t>Author introduce a method. This method solve problem by multiplying vector </a:t>
            </a:r>
            <a:r>
              <a:rPr lang="en-US" altLang="zh-TW" b="1" dirty="0"/>
              <a:t>h</a:t>
            </a:r>
            <a:r>
              <a:rPr lang="en-US" altLang="zh-TW" dirty="0"/>
              <a:t> by a random </a:t>
            </a:r>
            <a:r>
              <a:rPr lang="en-US" altLang="zh-TW" b="1" dirty="0"/>
              <a:t>orthogonal matrix</a:t>
            </a:r>
            <a:r>
              <a:rPr lang="en-US" altLang="zh-TW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1313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b="1" dirty="0"/>
              <a:t>Experiment Result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EEE14C4-F53F-4053-9EFC-8E3F610CCBB4}"/>
              </a:ext>
            </a:extLst>
          </p:cNvPr>
          <p:cNvSpPr txBox="1">
            <a:spLocks/>
          </p:cNvSpPr>
          <p:nvPr/>
        </p:nvSpPr>
        <p:spPr>
          <a:xfrm>
            <a:off x="187566" y="1621366"/>
            <a:ext cx="4716943" cy="49145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C1EE170-BAE8-4CB9-9408-0B57EE3FDE21}"/>
              </a:ext>
            </a:extLst>
          </p:cNvPr>
          <p:cNvSpPr txBox="1">
            <a:spLocks/>
          </p:cNvSpPr>
          <p:nvPr/>
        </p:nvSpPr>
        <p:spPr>
          <a:xfrm>
            <a:off x="184471" y="1621366"/>
            <a:ext cx="4415606" cy="45846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This is experiment result using </a:t>
            </a:r>
            <a:r>
              <a:rPr lang="en-US" altLang="zh-TW" b="1" dirty="0"/>
              <a:t>CIFAR-10</a:t>
            </a:r>
            <a:r>
              <a:rPr lang="en-US" altLang="zh-TW" dirty="0"/>
              <a:t> as task using </a:t>
            </a:r>
            <a:r>
              <a:rPr lang="en-US" altLang="zh-TW" b="1" dirty="0"/>
              <a:t>CNN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From this picture, it is obviously that </a:t>
            </a:r>
            <a:r>
              <a:rPr lang="en-US" altLang="zh-TW" b="1" dirty="0"/>
              <a:t>random mask </a:t>
            </a:r>
            <a:r>
              <a:rPr lang="en-US" altLang="zh-TW" dirty="0"/>
              <a:t>outperform </a:t>
            </a:r>
            <a:r>
              <a:rPr lang="en-US" altLang="zh-TW" b="1" dirty="0"/>
              <a:t>low rank</a:t>
            </a:r>
            <a:r>
              <a:rPr lang="en-US" altLang="zh-TW" dirty="0"/>
              <a:t>.</a:t>
            </a:r>
            <a:endParaRPr lang="en-US" altLang="zh-TW" b="1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1F88998-BB59-413F-A1FF-65B600463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077" y="1403030"/>
            <a:ext cx="7138037" cy="392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03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b="1" dirty="0"/>
              <a:t>Experiment Result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EEE14C4-F53F-4053-9EFC-8E3F610CCBB4}"/>
              </a:ext>
            </a:extLst>
          </p:cNvPr>
          <p:cNvSpPr txBox="1">
            <a:spLocks/>
          </p:cNvSpPr>
          <p:nvPr/>
        </p:nvSpPr>
        <p:spPr>
          <a:xfrm>
            <a:off x="187566" y="1621366"/>
            <a:ext cx="4716943" cy="49145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C1EE170-BAE8-4CB9-9408-0B57EE3FDE21}"/>
              </a:ext>
            </a:extLst>
          </p:cNvPr>
          <p:cNvSpPr txBox="1">
            <a:spLocks/>
          </p:cNvSpPr>
          <p:nvPr/>
        </p:nvSpPr>
        <p:spPr>
          <a:xfrm>
            <a:off x="187566" y="1807235"/>
            <a:ext cx="11235138" cy="20237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Same task as previous slide.</a:t>
            </a:r>
          </a:p>
          <a:p>
            <a:r>
              <a:rPr lang="en-US" altLang="zh-TW" dirty="0"/>
              <a:t>From this picture, we can see that </a:t>
            </a:r>
            <a:r>
              <a:rPr lang="en-US" altLang="zh-TW" b="1" dirty="0"/>
              <a:t>structure updates </a:t>
            </a:r>
            <a:r>
              <a:rPr lang="en-US" altLang="zh-TW" dirty="0"/>
              <a:t>have better performance than </a:t>
            </a:r>
            <a:r>
              <a:rPr lang="en-US" altLang="zh-TW" b="1" dirty="0"/>
              <a:t>sketched updates</a:t>
            </a:r>
            <a:r>
              <a:rPr lang="en-US" altLang="zh-TW" dirty="0"/>
              <a:t>.</a:t>
            </a:r>
            <a:endParaRPr lang="en-US" altLang="zh-TW" b="1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A8B8AF6-E3B4-4853-ADCB-DA28D4A9B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99" y="3309710"/>
            <a:ext cx="8949737" cy="318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5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b="1" dirty="0"/>
              <a:t>Experiment Result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EEE14C4-F53F-4053-9EFC-8E3F610CCBB4}"/>
              </a:ext>
            </a:extLst>
          </p:cNvPr>
          <p:cNvSpPr txBox="1">
            <a:spLocks/>
          </p:cNvSpPr>
          <p:nvPr/>
        </p:nvSpPr>
        <p:spPr>
          <a:xfrm>
            <a:off x="187566" y="1621366"/>
            <a:ext cx="4716943" cy="49145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C1EE170-BAE8-4CB9-9408-0B57EE3FDE21}"/>
              </a:ext>
            </a:extLst>
          </p:cNvPr>
          <p:cNvSpPr txBox="1">
            <a:spLocks/>
          </p:cNvSpPr>
          <p:nvPr/>
        </p:nvSpPr>
        <p:spPr>
          <a:xfrm>
            <a:off x="187566" y="1807235"/>
            <a:ext cx="11235138" cy="20237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This result is based on </a:t>
            </a:r>
            <a:r>
              <a:rPr lang="en-US" altLang="zh-TW" b="1" dirty="0"/>
              <a:t>next word prediction </a:t>
            </a:r>
            <a:r>
              <a:rPr lang="en-US" altLang="zh-TW" dirty="0"/>
              <a:t>task using </a:t>
            </a:r>
            <a:r>
              <a:rPr lang="en-US" altLang="zh-TW" b="1" dirty="0"/>
              <a:t>RNN</a:t>
            </a:r>
            <a:r>
              <a:rPr lang="en-US" altLang="zh-TW" dirty="0"/>
              <a:t> model.</a:t>
            </a:r>
          </a:p>
          <a:p>
            <a:r>
              <a:rPr lang="en-US" altLang="zh-TW" dirty="0"/>
              <a:t>From this picture, we can see that </a:t>
            </a:r>
            <a:r>
              <a:rPr lang="en-US" altLang="zh-TW" b="1" dirty="0"/>
              <a:t>sketched updates </a:t>
            </a:r>
            <a:r>
              <a:rPr lang="en-US" altLang="zh-TW" dirty="0"/>
              <a:t>with rotation can have better accuracy.</a:t>
            </a:r>
            <a:endParaRPr lang="en-US" altLang="zh-TW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A800A32-7E3A-434D-8774-08105A8F8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811" y="2713490"/>
            <a:ext cx="7247364" cy="390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52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1FF6A-DB14-4D37-BC4C-952C5F8C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3" y="447992"/>
            <a:ext cx="8534400" cy="1507067"/>
          </a:xfrm>
        </p:spPr>
        <p:txBody>
          <a:bodyPr/>
          <a:lstStyle/>
          <a:p>
            <a:r>
              <a:rPr lang="en-US" altLang="zh-TW" b="1" dirty="0"/>
              <a:t>Conclusion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EEE14C4-F53F-4053-9EFC-8E3F610CCBB4}"/>
              </a:ext>
            </a:extLst>
          </p:cNvPr>
          <p:cNvSpPr txBox="1">
            <a:spLocks/>
          </p:cNvSpPr>
          <p:nvPr/>
        </p:nvSpPr>
        <p:spPr>
          <a:xfrm>
            <a:off x="187566" y="1621366"/>
            <a:ext cx="4716943" cy="49145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C1EE170-BAE8-4CB9-9408-0B57EE3FDE21}"/>
              </a:ext>
            </a:extLst>
          </p:cNvPr>
          <p:cNvSpPr txBox="1">
            <a:spLocks/>
          </p:cNvSpPr>
          <p:nvPr/>
        </p:nvSpPr>
        <p:spPr>
          <a:xfrm>
            <a:off x="187566" y="1807235"/>
            <a:ext cx="11235138" cy="20237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/>
              <a:t>Federated Learning </a:t>
            </a:r>
            <a:r>
              <a:rPr lang="en-US" altLang="zh-TW" dirty="0"/>
              <a:t>will become more and more important in future because of data privacy, so method in this paper will be useful if we want to deploy </a:t>
            </a:r>
            <a:r>
              <a:rPr lang="en-US" altLang="zh-TW" b="1" dirty="0"/>
              <a:t>Federated Learning </a:t>
            </a:r>
            <a:r>
              <a:rPr lang="en-US" altLang="zh-TW" dirty="0"/>
              <a:t>to train a large model.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2814313978"/>
      </p:ext>
    </p:extLst>
  </p:cSld>
  <p:clrMapOvr>
    <a:masterClrMapping/>
  </p:clrMapOvr>
</p:sld>
</file>

<file path=ppt/theme/theme1.xml><?xml version="1.0" encoding="utf-8"?>
<a:theme xmlns:a="http://schemas.openxmlformats.org/drawingml/2006/main" name="切割線">
  <a:themeElements>
    <a:clrScheme name="切割線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割線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割線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226</TotalTime>
  <Words>617</Words>
  <Application>Microsoft Office PowerPoint</Application>
  <PresentationFormat>寬螢幕</PresentationFormat>
  <Paragraphs>80</Paragraphs>
  <Slides>15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微軟正黑體</vt:lpstr>
      <vt:lpstr>新細明體</vt:lpstr>
      <vt:lpstr>Calibri</vt:lpstr>
      <vt:lpstr>Cambria Math</vt:lpstr>
      <vt:lpstr>Century Gothic</vt:lpstr>
      <vt:lpstr>Wingdings 3</vt:lpstr>
      <vt:lpstr>切割線</vt:lpstr>
      <vt:lpstr>FEDERATED learning</vt:lpstr>
      <vt:lpstr>Contents</vt:lpstr>
      <vt:lpstr>Introduction of Uploading model </vt:lpstr>
      <vt:lpstr>Goal of this paper</vt:lpstr>
      <vt:lpstr>Structured updates</vt:lpstr>
      <vt:lpstr>Low rank</vt:lpstr>
      <vt:lpstr>Random mask</vt:lpstr>
      <vt:lpstr>Sketched updates</vt:lpstr>
      <vt:lpstr>subsampling</vt:lpstr>
      <vt:lpstr>Probabilistic quantization</vt:lpstr>
      <vt:lpstr>Probabilistic quantization</vt:lpstr>
      <vt:lpstr>Experiment Result</vt:lpstr>
      <vt:lpstr>Experiment Result</vt:lpstr>
      <vt:lpstr>Experiment Result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FEDERATED learning</dc:title>
  <dc:creator>zunzzz</dc:creator>
  <cp:lastModifiedBy>zunzzz</cp:lastModifiedBy>
  <cp:revision>25</cp:revision>
  <dcterms:created xsi:type="dcterms:W3CDTF">2020-06-03T14:05:58Z</dcterms:created>
  <dcterms:modified xsi:type="dcterms:W3CDTF">2020-06-03T17:52:28Z</dcterms:modified>
</cp:coreProperties>
</file>